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E8611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C8-41FA-B56D-530FE59431D2}"/>
              </c:ext>
            </c:extLst>
          </c:dPt>
          <c:dPt>
            <c:idx val="1"/>
            <c:invertIfNegative val="0"/>
            <c:bubble3D val="0"/>
            <c:spPr>
              <a:solidFill>
                <a:srgbClr val="F28C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C8-41FA-B56D-530FE59431D2}"/>
              </c:ext>
            </c:extLst>
          </c:dPt>
          <c:dPt>
            <c:idx val="2"/>
            <c:invertIfNegative val="0"/>
            <c:bubble3D val="0"/>
            <c:spPr>
              <a:solidFill>
                <a:srgbClr val="F5A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C8-41FA-B56D-530FE59431D2}"/>
              </c:ext>
            </c:extLst>
          </c:dPt>
          <c:dPt>
            <c:idx val="3"/>
            <c:invertIfNegative val="0"/>
            <c:bubble3D val="0"/>
            <c:spPr>
              <a:solidFill>
                <a:srgbClr val="F7B7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C8-41FA-B56D-530FE59431D2}"/>
              </c:ext>
            </c:extLst>
          </c:dPt>
          <c:dPt>
            <c:idx val="4"/>
            <c:invertIfNegative val="0"/>
            <c:bubble3D val="0"/>
            <c:spPr>
              <a:solidFill>
                <a:srgbClr val="F9C8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3C8-41FA-B56D-530FE59431D2}"/>
              </c:ext>
            </c:extLst>
          </c:dPt>
          <c:dPt>
            <c:idx val="5"/>
            <c:invertIfNegative val="0"/>
            <c:bubble3D val="0"/>
            <c:spPr>
              <a:solidFill>
                <a:srgbClr val="FBDA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3C8-41FA-B56D-530FE59431D2}"/>
              </c:ext>
            </c:extLst>
          </c:dPt>
          <c:dPt>
            <c:idx val="6"/>
            <c:invertIfNegative val="0"/>
            <c:bubble3D val="0"/>
            <c:spPr>
              <a:solidFill>
                <a:srgbClr val="FDE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3C8-41FA-B56D-530FE59431D2}"/>
              </c:ext>
            </c:extLst>
          </c:dPt>
          <c:dPt>
            <c:idx val="7"/>
            <c:invertIfNegative val="0"/>
            <c:bubble3D val="0"/>
            <c:spPr>
              <a:solidFill>
                <a:srgbClr val="FEF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3C8-41FA-B56D-530FE59431D2}"/>
              </c:ext>
            </c:extLst>
          </c:dPt>
          <c:dPt>
            <c:idx val="8"/>
            <c:invertIfNegative val="0"/>
            <c:bubble3D val="0"/>
            <c:spPr>
              <a:solidFill>
                <a:srgbClr val="FFF8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3C8-41FA-B56D-530FE59431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Electronics</c:v>
                </c:pt>
                <c:pt idx="1">
                  <c:v>Clothing</c:v>
                </c:pt>
                <c:pt idx="2">
                  <c:v>Beauty &amp; Health</c:v>
                </c:pt>
                <c:pt idx="3">
                  <c:v>Sports &amp; Fitness</c:v>
                </c:pt>
                <c:pt idx="4">
                  <c:v>Home &amp; Kitchen</c:v>
                </c:pt>
                <c:pt idx="5">
                  <c:v>Books</c:v>
                </c:pt>
                <c:pt idx="6">
                  <c:v>Other</c:v>
                </c:pt>
                <c:pt idx="7">
                  <c:v>Pet Care</c:v>
                </c:pt>
                <c:pt idx="8">
                  <c:v>Toys &amp; Games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</c:v>
                </c:pt>
                <c:pt idx="1">
                  <c:v>31</c:v>
                </c:pt>
                <c:pt idx="2">
                  <c:v>24</c:v>
                </c:pt>
                <c:pt idx="3">
                  <c:v>16</c:v>
                </c:pt>
                <c:pt idx="4">
                  <c:v>16</c:v>
                </c:pt>
                <c:pt idx="5">
                  <c:v>8</c:v>
                </c:pt>
                <c:pt idx="6">
                  <c:v>6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3C8-41FA-B56D-530FE59431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(₹M)</c:v>
                </c:pt>
              </c:strCache>
            </c:strRef>
          </c:tx>
          <c:spPr>
            <a:ln w="38100" cap="flat">
              <a:solidFill>
                <a:srgbClr val="E861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611A"/>
              </a:solidFill>
              <a:ln w="9525" cap="flat">
                <a:solidFill>
                  <a:srgbClr val="E8611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Feb</c:v>
                </c:pt>
                <c:pt idx="1">
                  <c:v>Jun</c:v>
                </c:pt>
                <c:pt idx="2">
                  <c:v>Jul</c:v>
                </c:pt>
                <c:pt idx="3">
                  <c:v>Jan</c:v>
                </c:pt>
                <c:pt idx="4">
                  <c:v>Mar</c:v>
                </c:pt>
                <c:pt idx="5">
                  <c:v>Apr</c:v>
                </c:pt>
                <c:pt idx="6">
                  <c:v>May</c:v>
                </c:pt>
                <c:pt idx="7">
                  <c:v>Sep</c:v>
                </c:pt>
                <c:pt idx="8">
                  <c:v>Aug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10.5</c:v>
                </c:pt>
                <c:pt idx="2">
                  <c:v>11</c:v>
                </c:pt>
                <c:pt idx="3">
                  <c:v>11.5</c:v>
                </c:pt>
                <c:pt idx="4">
                  <c:v>12</c:v>
                </c:pt>
                <c:pt idx="5">
                  <c:v>12.5</c:v>
                </c:pt>
                <c:pt idx="6">
                  <c:v>13</c:v>
                </c:pt>
                <c:pt idx="7">
                  <c:v>13.5</c:v>
                </c:pt>
                <c:pt idx="8">
                  <c:v>15</c:v>
                </c:pt>
                <c:pt idx="9">
                  <c:v>16</c:v>
                </c:pt>
                <c:pt idx="10">
                  <c:v>17.5</c:v>
                </c:pt>
                <c:pt idx="11">
                  <c:v>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DD-45AA-9720-AAEDBB1C3C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Amount (₹M)</c:v>
                </c:pt>
              </c:strCache>
            </c:strRef>
          </c:tx>
          <c:spPr>
            <a:ln w="38100" cap="flat">
              <a:solidFill>
                <a:srgbClr val="1A1F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1F3C"/>
              </a:solidFill>
              <a:ln w="9525" cap="flat">
                <a:solidFill>
                  <a:srgbClr val="1A1F3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Feb</c:v>
                </c:pt>
                <c:pt idx="1">
                  <c:v>Jun</c:v>
                </c:pt>
                <c:pt idx="2">
                  <c:v>Jul</c:v>
                </c:pt>
                <c:pt idx="3">
                  <c:v>Jan</c:v>
                </c:pt>
                <c:pt idx="4">
                  <c:v>Mar</c:v>
                </c:pt>
                <c:pt idx="5">
                  <c:v>Apr</c:v>
                </c:pt>
                <c:pt idx="6">
                  <c:v>May</c:v>
                </c:pt>
                <c:pt idx="7">
                  <c:v>Sep</c:v>
                </c:pt>
                <c:pt idx="8">
                  <c:v>Aug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</c:v>
                </c:pt>
                <c:pt idx="1">
                  <c:v>11.5</c:v>
                </c:pt>
                <c:pt idx="2">
                  <c:v>12</c:v>
                </c:pt>
                <c:pt idx="3">
                  <c:v>12.5</c:v>
                </c:pt>
                <c:pt idx="4">
                  <c:v>13</c:v>
                </c:pt>
                <c:pt idx="5">
                  <c:v>13.5</c:v>
                </c:pt>
                <c:pt idx="6">
                  <c:v>14</c:v>
                </c:pt>
                <c:pt idx="7">
                  <c:v>14.5</c:v>
                </c:pt>
                <c:pt idx="8">
                  <c:v>16</c:v>
                </c:pt>
                <c:pt idx="9">
                  <c:v>17</c:v>
                </c:pt>
                <c:pt idx="10">
                  <c:v>19</c:v>
                </c:pt>
                <c:pt idx="11">
                  <c:v>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CDD-45AA-9720-AAEDBB1C3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D0-4DC7-A5CE-CA380CB8FFE7}"/>
              </c:ext>
            </c:extLst>
          </c:dPt>
          <c:dPt>
            <c:idx val="1"/>
            <c:bubble3D val="0"/>
            <c:spPr>
              <a:solidFill>
                <a:srgbClr val="1A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D0-4DC7-A5CE-CA380CB8FFE7}"/>
              </c:ext>
            </c:extLst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D0-4DC7-A5CE-CA380CB8FFE7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BD0-4DC7-A5CE-CA380CB8FFE7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BD0-4DC7-A5CE-CA380CB8FFE7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2BD0-4DC7-A5CE-CA380CB8FFE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33.33</c:v>
                </c:pt>
                <c:pt idx="1">
                  <c:v>32.81</c:v>
                </c:pt>
                <c:pt idx="2">
                  <c:v>33.86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D0-4DC7-A5CE-CA380CB8FF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E8611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8-47FE-83B7-A6DB20C9C949}"/>
              </c:ext>
            </c:extLst>
          </c:dPt>
          <c:dPt>
            <c:idx val="1"/>
            <c:invertIfNegative val="0"/>
            <c:bubble3D val="0"/>
            <c:spPr>
              <a:solidFill>
                <a:srgbClr val="1A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8-47FE-83B7-A6DB20C9C949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8-47FE-83B7-A6DB20C9C94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F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Medium (₹2K-5K)</c:v>
                </c:pt>
                <c:pt idx="1">
                  <c:v>High (&gt;₹5K)</c:v>
                </c:pt>
                <c:pt idx="2">
                  <c:v>Low (&lt;₹2K)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</c:v>
                </c:pt>
                <c:pt idx="1">
                  <c:v>38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98-47FE-83B7-A6DB20C9C9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861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3B-44CC-92C9-FC76030ECB72}"/>
              </c:ext>
            </c:extLst>
          </c:dPt>
          <c:dPt>
            <c:idx val="1"/>
            <c:invertIfNegative val="0"/>
            <c:bubble3D val="0"/>
            <c:spPr>
              <a:solidFill>
                <a:srgbClr val="F28C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3B-44CC-92C9-FC76030ECB72}"/>
              </c:ext>
            </c:extLst>
          </c:dPt>
          <c:dPt>
            <c:idx val="2"/>
            <c:invertIfNegative val="0"/>
            <c:bubble3D val="0"/>
            <c:spPr>
              <a:solidFill>
                <a:srgbClr val="F5A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3B-44CC-92C9-FC76030ECB72}"/>
              </c:ext>
            </c:extLst>
          </c:dPt>
          <c:dPt>
            <c:idx val="3"/>
            <c:invertIfNegative val="0"/>
            <c:bubble3D val="0"/>
            <c:spPr>
              <a:solidFill>
                <a:srgbClr val="F7B7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E3B-44CC-92C9-FC76030ECB72}"/>
              </c:ext>
            </c:extLst>
          </c:dPt>
          <c:dPt>
            <c:idx val="4"/>
            <c:invertIfNegative val="0"/>
            <c:bubble3D val="0"/>
            <c:spPr>
              <a:solidFill>
                <a:srgbClr val="F9C8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E3B-44CC-92C9-FC76030ECB72}"/>
              </c:ext>
            </c:extLst>
          </c:dPt>
          <c:dPt>
            <c:idx val="5"/>
            <c:invertIfNegative val="0"/>
            <c:bubble3D val="0"/>
            <c:spPr>
              <a:solidFill>
                <a:srgbClr val="FDE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E3B-44CC-92C9-FC76030ECB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 COUPON</c:v>
                </c:pt>
                <c:pt idx="1">
                  <c:v>NEWYEARS</c:v>
                </c:pt>
                <c:pt idx="2">
                  <c:v>SEASONAL</c:v>
                </c:pt>
                <c:pt idx="3">
                  <c:v>FESTIVE50</c:v>
                </c:pt>
                <c:pt idx="4">
                  <c:v>SAVE10</c:v>
                </c:pt>
                <c:pt idx="5">
                  <c:v>WELCOME5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28000</c:v>
                </c:pt>
                <c:pt idx="1">
                  <c:v>8000</c:v>
                </c:pt>
                <c:pt idx="2">
                  <c:v>7000</c:v>
                </c:pt>
                <c:pt idx="3">
                  <c:v>4000</c:v>
                </c:pt>
                <c:pt idx="4">
                  <c:v>4000</c:v>
                </c:pt>
                <c:pt idx="5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E3B-44CC-92C9-FC76030ECB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1F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6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C0E-4F6B-A613-D150BC4DB899}"/>
              </c:ext>
            </c:extLst>
          </c:dPt>
          <c:dPt>
            <c:idx val="1"/>
            <c:bubble3D val="0"/>
            <c:spPr>
              <a:solidFill>
                <a:srgbClr val="1A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0E-4F6B-A613-D150BC4DB899}"/>
              </c:ext>
            </c:extLst>
          </c:dPt>
          <c:dPt>
            <c:idx val="2"/>
            <c:bubble3D val="0"/>
            <c:spPr>
              <a:solidFill>
                <a:srgbClr val="F28C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0E-4F6B-A613-D150BC4DB899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0E-4F6B-A613-D150BC4DB899}"/>
              </c:ext>
            </c:extLst>
          </c:dPt>
          <c:dPt>
            <c:idx val="4"/>
            <c:bubble3D val="0"/>
            <c:spPr>
              <a:solidFill>
                <a:srgbClr val="F5A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0E-4F6B-A613-D150BC4DB899}"/>
              </c:ext>
            </c:extLst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C0E-4F6B-A613-D150BC4DB899}"/>
              </c:ext>
            </c:extLst>
          </c:dPt>
          <c:dPt>
            <c:idx val="6"/>
            <c:bubble3D val="0"/>
            <c:spPr>
              <a:solidFill>
                <a:srgbClr val="FDE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C0E-4F6B-A613-D150BC4DB899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C0E-4F6B-A613-D150BC4DB899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C0E-4F6B-A613-D150BC4DB899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C0E-4F6B-A613-D150BC4DB899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AC0E-4F6B-A613-D150BC4DB899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AC0E-4F6B-A613-D150BC4DB899}"/>
                </c:ext>
              </c:extLst>
            </c:dLbl>
            <c:dLbl>
              <c:idx val="5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AC0E-4F6B-A613-D150BC4DB899}"/>
                </c:ext>
              </c:extLst>
            </c:dLbl>
            <c:dLbl>
              <c:idx val="6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AC0E-4F6B-A613-D150BC4DB89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Credit Card</c:v>
                </c:pt>
                <c:pt idx="1">
                  <c:v>Debit Card</c:v>
                </c:pt>
                <c:pt idx="2">
                  <c:v>Net Banking</c:v>
                </c:pt>
                <c:pt idx="3">
                  <c:v>Internet</c:v>
                </c:pt>
                <c:pt idx="4">
                  <c:v>PhonePe</c:v>
                </c:pt>
                <c:pt idx="5">
                  <c:v>Cash</c:v>
                </c:pt>
                <c:pt idx="6">
                  <c:v>Google Pay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63.69</c:v>
                </c:pt>
                <c:pt idx="1">
                  <c:v>39.770000000000003</c:v>
                </c:pt>
                <c:pt idx="2">
                  <c:v>15.77</c:v>
                </c:pt>
                <c:pt idx="3">
                  <c:v>8.0500000000000007</c:v>
                </c:pt>
                <c:pt idx="4">
                  <c:v>7.5</c:v>
                </c:pt>
                <c:pt idx="5">
                  <c:v>7.79</c:v>
                </c:pt>
                <c:pt idx="6">
                  <c:v>7.51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C0E-4F6B-A613-D150BC4DB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E861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7E-4CB7-9C08-288BB3A17CD4}"/>
              </c:ext>
            </c:extLst>
          </c:dPt>
          <c:dPt>
            <c:idx val="1"/>
            <c:invertIfNegative val="0"/>
            <c:bubble3D val="0"/>
            <c:spPr>
              <a:solidFill>
                <a:srgbClr val="F28C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7E-4CB7-9C08-288BB3A17CD4}"/>
              </c:ext>
            </c:extLst>
          </c:dPt>
          <c:dPt>
            <c:idx val="2"/>
            <c:invertIfNegative val="0"/>
            <c:bubble3D val="0"/>
            <c:spPr>
              <a:solidFill>
                <a:srgbClr val="F5A0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7E-4CB7-9C08-288BB3A17CD4}"/>
              </c:ext>
            </c:extLst>
          </c:dPt>
          <c:dPt>
            <c:idx val="3"/>
            <c:invertIfNegative val="0"/>
            <c:bubble3D val="0"/>
            <c:spPr>
              <a:solidFill>
                <a:srgbClr val="F7B7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7E-4CB7-9C08-288BB3A17CD4}"/>
              </c:ext>
            </c:extLst>
          </c:dPt>
          <c:dPt>
            <c:idx val="4"/>
            <c:invertIfNegative val="0"/>
            <c:bubble3D val="0"/>
            <c:spPr>
              <a:solidFill>
                <a:srgbClr val="F9C8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77E-4CB7-9C08-288BB3A17CD4}"/>
              </c:ext>
            </c:extLst>
          </c:dPt>
          <c:dPt>
            <c:idx val="5"/>
            <c:invertIfNegative val="0"/>
            <c:bubble3D val="0"/>
            <c:spPr>
              <a:solidFill>
                <a:srgbClr val="FBDA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77E-4CB7-9C08-288BB3A17CD4}"/>
              </c:ext>
            </c:extLst>
          </c:dPt>
          <c:dPt>
            <c:idx val="6"/>
            <c:invertIfNegative val="0"/>
            <c:bubble3D val="0"/>
            <c:spPr>
              <a:solidFill>
                <a:srgbClr val="FDE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77E-4CB7-9C08-288BB3A17CD4}"/>
              </c:ext>
            </c:extLst>
          </c:dPt>
          <c:dPt>
            <c:idx val="7"/>
            <c:invertIfNegative val="0"/>
            <c:bubble3D val="0"/>
            <c:spPr>
              <a:solidFill>
                <a:srgbClr val="FEF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77E-4CB7-9C08-288BB3A17CD4}"/>
              </c:ext>
            </c:extLst>
          </c:dPt>
          <c:dPt>
            <c:idx val="8"/>
            <c:invertIfNegative val="0"/>
            <c:bubble3D val="0"/>
            <c:spPr>
              <a:solidFill>
                <a:srgbClr val="FFF8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77E-4CB7-9C08-288BB3A17CD4}"/>
              </c:ext>
            </c:extLst>
          </c:dPt>
          <c:dPt>
            <c:idx val="9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77E-4CB7-9C08-288BB3A17C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Mumbai</c:v>
                </c:pt>
                <c:pt idx="1">
                  <c:v>Delhi</c:v>
                </c:pt>
                <c:pt idx="2">
                  <c:v>Bangalore</c:v>
                </c:pt>
                <c:pt idx="3">
                  <c:v>Hyderabad</c:v>
                </c:pt>
                <c:pt idx="4">
                  <c:v>Chennai</c:v>
                </c:pt>
                <c:pt idx="5">
                  <c:v>Kolkata</c:v>
                </c:pt>
                <c:pt idx="6">
                  <c:v>Pune</c:v>
                </c:pt>
                <c:pt idx="7">
                  <c:v>Ahmedabad</c:v>
                </c:pt>
                <c:pt idx="8">
                  <c:v>Jaipur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</c:v>
                </c:pt>
                <c:pt idx="1">
                  <c:v>20</c:v>
                </c:pt>
                <c:pt idx="2">
                  <c:v>18</c:v>
                </c:pt>
                <c:pt idx="3">
                  <c:v>15</c:v>
                </c:pt>
                <c:pt idx="4">
                  <c:v>12.64</c:v>
                </c:pt>
                <c:pt idx="5">
                  <c:v>11</c:v>
                </c:pt>
                <c:pt idx="6">
                  <c:v>10</c:v>
                </c:pt>
                <c:pt idx="7">
                  <c:v>9</c:v>
                </c:pt>
                <c:pt idx="8">
                  <c:v>8</c:v>
                </c:pt>
                <c:pt idx="9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77E-4CB7-9C08-288BB3A17C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335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28C3A"/>
                </a:solidFill>
              </a:rPr>
              <a:t>APEXPLANET INTERNSHIP — TASK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Storytelling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Statistical Validation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</a:rPr>
              <a:t>E-Commerce Sales Analysis | 55K Orders | ₹158.18M Revenue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2377440"/>
            <a:ext cx="1463040" cy="100584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11A"/>
                </a:solidFill>
              </a:rPr>
              <a:t>₹158.18M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0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BD5E1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635240" y="2377440"/>
            <a:ext cx="1463040" cy="100584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3524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11A"/>
                </a:solidFill>
              </a:rPr>
              <a:t>55K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35240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BD5E1"/>
                </a:solidFill>
              </a:rPr>
              <a:t>TOTAL ORDERS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3566160"/>
            <a:ext cx="1463040" cy="100584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11A"/>
                </a:solidFill>
              </a:rPr>
              <a:t>₹2,875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BD5E1"/>
                </a:solidFill>
              </a:rPr>
              <a:t>AVG ORDER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635240" y="3566160"/>
            <a:ext cx="1463040" cy="100584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3524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11A"/>
                </a:solidFill>
              </a:rPr>
              <a:t>29,071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3524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BD5E1"/>
                </a:solidFill>
              </a:rPr>
              <a:t>CUSTOMERS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PRESENTATION AGENDA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640080" cy="59436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7680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950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3C"/>
                </a:solidFill>
              </a:rPr>
              <a:t>The Business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21615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Why this analysis matters for e-commerce growth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640080" cy="59436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1691640"/>
            <a:ext cx="7680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728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3C"/>
                </a:solidFill>
              </a:rPr>
              <a:t>Data Story: Key Findings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9933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Revenue trends, customer behavior, product performance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640080" cy="59436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7280" y="2468880"/>
            <a:ext cx="7680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3C"/>
                </a:solidFill>
              </a:rPr>
              <a:t>Hypothesis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7706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Statistical validation: Gender vs Spending (Chi-Square)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640080" cy="59436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46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97280" y="3246120"/>
            <a:ext cx="7680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3C"/>
                </a:solidFill>
              </a:rPr>
              <a:t>Business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5478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Discount effectiveness &amp; location-based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640080" cy="59436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233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97280" y="4023360"/>
            <a:ext cx="7680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F3C"/>
                </a:solidFill>
              </a:rPr>
              <a:t>Recommendations &amp; Actions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32511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Data-driven strategies for business leaders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01  THE BUSINESS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questions are we trying to answer?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73152" cy="5029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179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3A"/>
                </a:solidFill>
              </a:rPr>
              <a:t>Revenue Drivers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</a:rPr>
              <a:t>Which product categories and locations generate the most revenue?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73152" cy="5029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762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3A"/>
                </a:solidFill>
              </a:rPr>
              <a:t>Customer Segments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1401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</a:rPr>
              <a:t>Does gender or age group influence spending behavior significantly?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25496"/>
            <a:ext cx="73152" cy="5029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34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3A"/>
                </a:solidFill>
              </a:rPr>
              <a:t>Discount Effectiveness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723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</a:rPr>
              <a:t>Are promotional campaigns translating into higher revenue?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83864"/>
            <a:ext cx="73152" cy="5029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93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3A"/>
                </a:solidFill>
              </a:rPr>
              <a:t>Purchase Trends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7307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</a:rPr>
              <a:t>Which months see peak sales and why is there a seasonal decline?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42232"/>
            <a:ext cx="73152" cy="5029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51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3A"/>
                </a:solidFill>
              </a:rPr>
              <a:t>Payment Preferences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3891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</a:rPr>
              <a:t>Which payment methods dominate and how does this impact strategy?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02  DATA STORY: REVENUE BY PRODUCT CATEGORY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4138078"/>
              </p:ext>
            </p:extLst>
          </p:nvPr>
        </p:nvGraphicFramePr>
        <p:xfrm>
          <a:off x="274320" y="77724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822960"/>
            <a:ext cx="274320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822960"/>
            <a:ext cx="2743200" cy="36576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45352" y="1325880"/>
            <a:ext cx="164592" cy="164592"/>
          </a:xfrm>
          <a:prstGeom prst="ellipse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2984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F3C"/>
                </a:solidFill>
              </a:rPr>
              <a:t>Electronics leads at ₹47M — 29.7% of total revenue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45352" y="1947672"/>
            <a:ext cx="164592" cy="164592"/>
          </a:xfrm>
          <a:prstGeom prst="ellipse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920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F3C"/>
                </a:solidFill>
              </a:rPr>
              <a:t>Top 3 categories (Electronics, Clothing, Beauty) account for 64% of revenue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45352" y="2569464"/>
            <a:ext cx="164592" cy="164592"/>
          </a:xfrm>
          <a:prstGeom prst="ellipse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25420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F3C"/>
                </a:solidFill>
              </a:rPr>
              <a:t>Electronics + Clothing alone = ₹78M (49.3%)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45352" y="3191256"/>
            <a:ext cx="164592" cy="164592"/>
          </a:xfrm>
          <a:prstGeom prst="ellipse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16382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F3C"/>
                </a:solidFill>
              </a:rPr>
              <a:t>Pet Care &amp; Toys underperform at ₹5M each — review inventory strategy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45352" y="3813048"/>
            <a:ext cx="164592" cy="164592"/>
          </a:xfrm>
          <a:prstGeom prst="ellipse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37856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F3C"/>
                </a:solidFill>
              </a:rPr>
              <a:t>High-margin categories (Electronics, Clothing) should get priority in promotions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02  DATA STORY: MONTHLY REVENUE TREND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914400"/>
            <a:ext cx="1920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903720" y="914400"/>
            <a:ext cx="1920240" cy="2743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PEAK MONTH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903720" y="1216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11A"/>
                </a:solidFill>
              </a:rPr>
              <a:t>December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03720" y="1609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₹19M Net Revenue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903720" y="2240280"/>
            <a:ext cx="1920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03720" y="2240280"/>
            <a:ext cx="1920240" cy="27432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LOWEST MONTH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90372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C"/>
                </a:solidFill>
              </a:rPr>
              <a:t>February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03720" y="2935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₹10M Net Revenue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03720" y="3566160"/>
            <a:ext cx="1920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03720" y="3566160"/>
            <a:ext cx="19202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037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TREND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903720" y="3867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Declining 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03720" y="4261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Dec to Feb drop: 47%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5EE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A1F3C"/>
                </a:solidFill>
              </a:rPr>
              <a:t>💡 Seasonality Insight: Revenue peaks in festive Q4 (Oct–Dec). February shows lowest demand — ideal for targeted promotions to boost off-season sales.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02  DATA STORY: CUSTOMER SEGMENTATION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C"/>
                </a:solidFill>
              </a:rPr>
              <a:t>Revenue by Gender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C"/>
                </a:solidFill>
              </a:rPr>
              <a:t>Revenue by Spending Category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0972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solidFill>
            <a:srgbClr val="FFF5EE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1F3C"/>
                </a:solidFill>
              </a:rPr>
              <a:t>Gender distribution is nearly equal (≈33% each). Medium spenders drive 64% of total revenue — the most valuable customer segment to retain and upsell.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03  HYPOTHESIS TESTING: STATISTICAL VALIDATION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Hypothesis: Gender has a statistically significant relationship with Spending Category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</a:rPr>
              <a:t>Test Used: Chi-Square Test of Independence  |  Significance Level: α = 0.05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1005840"/>
          </a:xfrm>
          <a:prstGeom prst="rect">
            <a:avLst/>
          </a:prstGeom>
          <a:solidFill>
            <a:srgbClr val="252B5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H₀ (Null)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Gender and Spending Category are independent — gender does not influence spending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114800" cy="1005840"/>
          </a:xfrm>
          <a:prstGeom prst="rect">
            <a:avLst/>
          </a:prstGeom>
          <a:solidFill>
            <a:srgbClr val="252B5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H₁ (Alternate)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24942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Gender and Spending Category are NOT independent — gender influences spending behavior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28C3A"/>
                </a:solidFill>
              </a:rPr>
              <a:t>TEST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329184"/>
          </a:xfrm>
          <a:prstGeom prst="rect">
            <a:avLst/>
          </a:prstGeom>
          <a:solidFill>
            <a:srgbClr val="252B50"/>
          </a:solidFill>
          <a:ln w="12700">
            <a:solidFill>
              <a:srgbClr val="252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747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Chi-Square Statistic (χ²)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4747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8C3A"/>
                </a:solidFill>
              </a:rPr>
              <a:t>2.84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4747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Calculated from observed vs expected frequencies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8412480" cy="329184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221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Degrees of Freedom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38221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8C3A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38221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(3 genders − 1) × (3 spending tiers − 1)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8412480" cy="329184"/>
          </a:xfrm>
          <a:prstGeom prst="rect">
            <a:avLst/>
          </a:prstGeom>
          <a:solidFill>
            <a:srgbClr val="252B50"/>
          </a:solidFill>
          <a:ln w="12700">
            <a:solidFill>
              <a:srgbClr val="252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96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p-value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41696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8C3A"/>
                </a:solidFill>
              </a:rPr>
              <a:t>0.585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41696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Greater than 0.05 significance level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517136"/>
            <a:ext cx="8412480" cy="329184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171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Critical Value (α=0.05)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45171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8C3A"/>
                </a:solidFill>
              </a:rPr>
              <a:t>9.488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4517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χ² &lt; critical value → fail to reject H₀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03  HYPOTHESIS CONCLUSION &amp; BUSINESS MEANING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A34A"/>
                </a:solidFill>
              </a:rPr>
              <a:t>✓  FAIL TO REJECT H₀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p = 0.585 &gt; 0.05 | χ² = 2.84 &lt; Critical Value 9.488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A1F3C"/>
                </a:solidFill>
              </a:rPr>
              <a:t>At 95% confidence, there is NO statistically significant relationship between gender and spending category.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</a:rPr>
              <a:t>Business Implications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20040" cy="475488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146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80010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32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Gender-Neutral 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5234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Campaigns targeting spending tiers can be gender-inclusive — no need to differentiate ads by gender alone.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320040" cy="475488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2724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127248"/>
            <a:ext cx="80010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45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Segment by Spending Power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36499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Focus on Medium spenders (₹101M revenue). Design loyalty programs around spend value, not demographics.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39896"/>
            <a:ext cx="320040" cy="475488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3989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3739896"/>
            <a:ext cx="80010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58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Equal Representation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All three gender groups show nearly equal transaction counts (~18K each) — diverse audience is already present.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352544"/>
            <a:ext cx="320040" cy="475488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525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352544"/>
            <a:ext cx="80010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Future Study Recommendation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5902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Explore Age Group vs Spending Category — age may be a stronger predictor of purchase behavior.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04  BUSINESS INSIGHTS: DISCOUNTS &amp; PAYMENT METHODS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C"/>
                </a:solidFill>
              </a:rPr>
              <a:t>Orders by Discount Campaign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C"/>
                </a:solidFill>
              </a:rPr>
              <a:t>Revenue by Payment Method (₹M)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5488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FFF5EE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A1F3C"/>
                </a:solidFill>
              </a:rPr>
              <a:t>51% of orders use NO coupon — massive upsell opportunity. Credit Card dominates at ₹63.69M (40%) — partner offers &amp; cashback programs can boost loyalty.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04  BUSINESS INSIGHTS: REVENUE BY LOCATION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822960"/>
            <a:ext cx="23774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822960"/>
            <a:ext cx="457200" cy="86868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822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95160" y="877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MUMBAI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95160" y="1133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611A"/>
                </a:solidFill>
              </a:rPr>
              <a:t>₹22M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95160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Top revenue city — 14% of total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46520" y="1828800"/>
            <a:ext cx="23774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828800"/>
            <a:ext cx="457200" cy="86868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8288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95160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DELHI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95160" y="21396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611A"/>
                </a:solidFill>
              </a:rPr>
              <a:t>₹20M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95160" y="2395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Strong market with growth potential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46520" y="2834640"/>
            <a:ext cx="23774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2834640"/>
            <a:ext cx="457200" cy="86868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834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95160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HYDERABAD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95160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611A"/>
                </a:solidFill>
              </a:rPr>
              <a:t>₹15M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95160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Your local market — 4th nationally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46520" y="3840480"/>
            <a:ext cx="23774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46520" y="3840480"/>
            <a:ext cx="457200" cy="86868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38404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95160" y="3895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F3C"/>
                </a:solidFill>
              </a:rPr>
              <a:t>CHENNAI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995160" y="4151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611A"/>
                </a:solidFill>
              </a:rPr>
              <a:t>₹12.64M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95160" y="4407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Consistent mid-tier performer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05  RECOMMENDATIONS &amp; CALL TO 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" cy="6858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822960"/>
            <a:ext cx="790956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252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595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Launch Festive Off-Season Campaigns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Feb &amp; Jun are low-revenue months. Run SAVE10 / WELCOME5 promotions to boost off-season orders and reduce seasonality gap from 47%.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0" y="1024128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024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" cy="6858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6420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1664208"/>
            <a:ext cx="790956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252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7007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Prioritize Electronics &amp; Clothing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9933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These two categories drive ₹78M (49%). Increase inventory, priority placement, and targeted ads for maximum ROI.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1865376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865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505456"/>
            <a:ext cx="4114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0545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2505456"/>
            <a:ext cx="790956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252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542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Loyalty Program for Credit Card 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8346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40% of revenue via Credit Card. Partner with card issuers for cashback offers to increase repeat purchases.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270662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346704"/>
            <a:ext cx="411480" cy="6858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4670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8680" y="3346704"/>
            <a:ext cx="790956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252B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383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Medium-Spender Retention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758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Medium tier drives ₹101M. Create membership tiers with exclusive benefits to prevent churn and increase basket size.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354787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4187952"/>
            <a:ext cx="4114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8795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68680" y="4187952"/>
            <a:ext cx="790956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252B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224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Regional Push in Tier-2 Cities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51713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</a:rPr>
              <a:t>Mumbai &amp; Delhi lead but Hyderabad, Pune, Jaipur show growth potential. Target regional digital campaigns.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89520" y="43891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PROJECT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91440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235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11A"/>
                </a:solidFill>
              </a:rPr>
              <a:t>₹158.18M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BD5E1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51760" cy="91440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235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11A"/>
                </a:solidFill>
              </a:rPr>
              <a:t>₹2,875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4612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BD5E1"/>
                </a:solidFill>
              </a:rPr>
              <a:t>Avg Order Value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651760" cy="91440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9235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11A"/>
                </a:solidFill>
              </a:rPr>
              <a:t>55,000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2648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BD5E1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2651760" cy="91440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02082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11A"/>
                </a:solidFill>
              </a:rPr>
              <a:t>29,071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BD5E1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965960"/>
            <a:ext cx="2651760" cy="91440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202082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11A"/>
                </a:solidFill>
              </a:rPr>
              <a:t>Electronics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46120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BD5E1"/>
                </a:solidFill>
              </a:rPr>
              <a:t>Top Category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651760" cy="914400"/>
          </a:xfrm>
          <a:prstGeom prst="rect">
            <a:avLst/>
          </a:prstGeom>
          <a:solidFill>
            <a:srgbClr val="252B50"/>
          </a:solidFill>
          <a:ln w="12700">
            <a:solidFill>
              <a:srgbClr val="E861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02082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11A"/>
                </a:solidFill>
              </a:rPr>
              <a:t>December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BD5E1"/>
                </a:solidFill>
              </a:rPr>
              <a:t>Peak Month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8C3A"/>
                </a:solidFill>
              </a:rPr>
              <a:t>Key Learnings from Task 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201168" cy="2743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Data storytelling transforms raw numbers into actionable business narratives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201168" cy="2743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Chi-Square test proved gender does NOT significantly influence spending tier (p=0.585)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334256"/>
            <a:ext cx="201168" cy="274320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342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Seasonality, category mix, and payment methods are key revenue levers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Thank You  |  Vihan  |  ApexPlanet Software Pvt. Ltd.  |  apexplanet.in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923</Words>
  <Application>Microsoft Office PowerPoint</Application>
  <PresentationFormat>On-screen Show (16:9)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Data Story &amp; Statistical Validation</dc:title>
  <dc:subject>PptxGenJS Presentation</dc:subject>
  <dc:creator>PptxGenJS</dc:creator>
  <cp:lastModifiedBy>Vihan</cp:lastModifiedBy>
  <cp:revision>2</cp:revision>
  <dcterms:created xsi:type="dcterms:W3CDTF">2026-05-30T04:53:12Z</dcterms:created>
  <dcterms:modified xsi:type="dcterms:W3CDTF">2026-05-30T05:07:32Z</dcterms:modified>
</cp:coreProperties>
</file>